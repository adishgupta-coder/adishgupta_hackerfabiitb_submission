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eb195468-3e4f-6a1f-fe09-a78ef3de3235}">
          <p14:sldIdLst>
            <p14:sldId id="256"/>
          </p14:sldIdLst>
        </p14:section>
        <p14:section name="Process Flow" id="{804fe189-d7b8-eaad-b955-44738bb50cc0}">
          <p14:sldIdLst>
            <p14:sldId id="257"/>
          </p14:sldIdLst>
        </p14:section>
        <p14:section name="[A] PREP" id="{e8bac2a0-e68e-d6c1-cb50-dc844b378dfc}">
          <p14:sldIdLst>
            <p14:sldId id="258"/>
            <p14:sldId id="259"/>
            <p14:sldId id="260"/>
          </p14:sldIdLst>
        </p14:section>
        <p14:section name="[B] MASK 1: ACTIVE WINDOWS" id="{b405f28a-aa57-05d1-6428-2456cd9a8692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[C] n+ EMITTER" id="{66396f17-2bca-484e-61ef-0055a629a66d}">
          <p14:sldIdLst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[D] AR-OXIDE SPLIT" id="{b23589c9-af3f-5ae3-e897-665b8d47c0d3}">
          <p14:sldIdLst>
            <p14:sldId id="277"/>
            <p14:sldId id="278"/>
            <p14:sldId id="279"/>
          </p14:sldIdLst>
        </p14:section>
        <p14:section name="[E] MASK 2: CONTACT STRIPES" id="{548d6bbd-b713-bb86-9033-c76030f2228b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[F] MASK 3: METAL BY LIFT-OFF" id="{cce9913f-8f39-4f14-5f78-a841e3690daa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[G] BACKSIDE + SINTER" id="{8f8b518a-c6be-2828-b923-b71aef9ccdc2}">
          <p14:sldIdLst>
            <p14:sldId id="299"/>
            <p14:sldId id="300"/>
            <p14:sldId id="301"/>
          </p14:sldIdLst>
        </p14:section>
        <p14:section name="[H] TEST" id="{e0cbe12e-53e9-fb5a-e3fc-5b0db836b55c}">
          <p14:sldIdLst>
            <p14:sldId id="302"/>
            <p14:sldId id="303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buBlox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6376" y="256032"/>
            <a:ext cx="1792224" cy="4206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2700">
            <a:solidFill>
              <a:srgbClr val="E1E8E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650138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Photodiode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buBlox 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2F87"/>
          </a:solidFill>
          <a:ln w="12700">
            <a:solidFill>
              <a:srgbClr val="6B2F87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66376" y="256032"/>
            <a:ext cx="1792224" cy="4206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650138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B8794"/>
                </a:solidFill>
              </a:rPr>
              <a:t>Photodiode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bublox.com/designer/2cbbc24f-813f-4e72-a331-79439cbee9c8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2F87"/>
          </a:solidFill>
          <a:ln w="12700">
            <a:solidFill>
              <a:srgbClr val="6B2F87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680" y="548640"/>
            <a:ext cx="1948396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258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Photodiode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6868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4CA8"/>
                </a:solidFill>
              </a:rPr>
              <a:t>Process Flow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Version 1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Exported by Adish Gupta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Oct 30, 2026, 8:44 AM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</a:rPr>
              <a:t>Last saved Oct 29, 2026, 8:12 PM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5596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B"/>
                </a:solidFill>
              </a:rPr>
              <a:t>Open in FabuBlox</a:t>
            </a:r>
            <a:endParaRPr lang="en-US" sz="1100" dirty="0"/>
          </a:p>
        </p:txBody>
      </p:sp>
      <p:sp>
        <p:nvSpPr>
          <p:cNvPr id="8" name="Text 5">
            <a:hlinkClick r:id="rId3" tooltip=""/>
          </p:cNvPr>
          <p:cNvSpPr/>
          <p:nvPr/>
        </p:nvSpPr>
        <p:spPr>
          <a:xfrm>
            <a:off x="868680" y="58704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u="sng" dirty="0">
                <a:solidFill>
                  <a:srgbClr val="8E4CA8"/>
                </a:solidFill>
                <a:uFill>
                  <a:solidFill>
                    <a:srgbClr val="8E4CA8"/>
                  </a:solidFill>
                </a:u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https://www.fabublox.com/designer/2cbbc24f-813f-4e72-a331-79439cbee9c8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Starting Substrate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p-Si(100) with 300 nm Thermal SiO2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5715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</a:rPr>
              <a:t>p-Si(100), 4", 1-10 ohm.cm, 300 nm thermal SiO2 (MTI), cleaved to ~2x2 cm dies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7203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WAFER SIZES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100mm - 4"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497580" y="1572768"/>
            <a:ext cx="27203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VENDOR</a:t>
            </a:r>
            <a:endParaRPr lang="en-US" sz="85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</a:rPr>
              <a:t>MTI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57984"/>
          <a:ext cx="5715000" cy="914400"/>
        </p:xfrm>
        <a:graphic>
          <a:graphicData uri="http://schemas.openxmlformats.org/drawingml/2006/table">
            <a:tbl>
              <a:tblPr/>
              <a:tblGrid>
                <a:gridCol w="392206"/>
                <a:gridCol w="1344706"/>
                <a:gridCol w="840441"/>
                <a:gridCol w="1456765"/>
                <a:gridCol w="896471"/>
                <a:gridCol w="7844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LAYER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MATERIAL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THICKNESS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DOPING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CRYSTAL STRUCTURE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8E4CA8"/>
                          </a:solidFill>
                        </a:rPr>
                        <a:t>CRYSTAL ORIENTATION</a:t>
                      </a:r>
                      <a:endParaRPr lang="en-US" sz="85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C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Silicon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525 µm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p-type (B - Boron)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Single Crystal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&lt;100&gt;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SiO₂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300 nm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4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9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2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3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7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30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5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8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[A] PREP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[A] PREP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1: Solvent clean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Clean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Solvents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Acetone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Ultra-Sonication: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Dry Method: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N₂ blow dry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Cleans organic residues from the wafer surface prior to processing.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Sequential solvent clean: acetone &gt; IPA &gt; DI water rinse &gt; N2 dry.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[A] PREP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2: RCA clean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RCA Clean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RCA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SC 1 Constituents: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SC-1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SC 2 Constituents: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SC-2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TOOL PARAMETERS</a:t>
            </a:r>
            <a:endParaRPr lang="en-US" sz="1100" dirty="0"/>
          </a:p>
          <a:p>
            <a:pPr marL="139700" indent="-139700">
              <a:spcBef>
                <a:spcPts val="200"/>
              </a:spcBef>
              <a:spcAft>
                <a:spcPts val="200"/>
              </a:spcAft>
              <a:buSzPct val="100000"/>
              <a:buChar char=" "/>
            </a:pPr>
            <a:r>
              <a:rPr lang="en-US" sz="1100" dirty="0">
                <a:solidFill>
                  <a:srgbClr val="6B2F87"/>
                </a:solidFill>
              </a:rPr>
              <a:t>Dry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Dry Method: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N2 blow dry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Bef>
                <a:spcPts val="300"/>
              </a:spcBef>
              <a:spcAft>
                <a:spcPts val="200"/>
              </a:spcAft>
              <a:buSzPct val="100000"/>
              <a:buChar char=" "/>
            </a:pPr>
            <a:r>
              <a:rPr lang="en-US" sz="1100" i="1" dirty="0">
                <a:solidFill>
                  <a:srgbClr val="5A6B7B"/>
                </a:solidFill>
              </a:rPr>
              <a:t>Floating Structures</a:t>
            </a:r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Standard high-grade clean to remove trace organics, native oxide, and ionic/metallic contamination.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Per lab RCA references prior to photolithography and high-temperature processing.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[B] MASK 1: ACTIVE WINDOWS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3: Dehydration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120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Dehydrates the wafer surface to promote resist adhesion.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~120 °C for 5 min; HMDS primed if available.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4: Spin S1813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Spin-Coat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 Coater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 Type: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Positive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1.35 µm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Speed: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4000 rpm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Fill Gaps: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Coats positive photoresist S1813 for patterning active windows.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4000 rpm for 50 s yields ~1.35 µm nominal thickness.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5: Pre-exposure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115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Soft-bakes S1813 resist to remove casting solvents.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Hotplate pre-exposure bake at ~115 °C for 60 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6: Expose Mask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Direct-Write Lithography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litho-v1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Laser Wavelength: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405 nm (h-line)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Expose: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Pattern source: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Manual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Pattern: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1,4,1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Toggle start exposure region: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Exposure Sidewall Angle: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°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Exposes Mask 1 to define 500x500 µm active window, 200x200 µm pad area, marks, van der Pauw cross, and test diodes.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Patterned on litho-v1 DLP projector (405 nm LED) at 140 mJ/cm².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7: Develop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Develop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MF-319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Develop: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Developer: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MF-319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Custom Undercut: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Develops exposed S1813 photoresist.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MF-319 developer for 15-40 s (~30 s), followed by DI water rinse and N2 dry.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8: Hard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120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Hardens resist mask prior to wet chemical oxide etching.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Hard bake at ~120 °C for 10 min.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9: Etch oxide to 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Etch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BOE/DHF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SiO₂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Two-Sided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BOE 6:1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Depth: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240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Mode: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Isotropic Etch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Etch Selectivity: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Out-of-plane Etch Buried Layers: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Etches 300 nm SiO2 thermally grown oxide down to bare silicon in opened active windows.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BOE wet etch for ~3-5 min (~4 min); visual endpoint indicated when bare silicon dewets. Leave backside uncoated by resist so the backside oxide is stripped simultaneously in this step for subsequent backside metallization.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[B] MASK 1: ACTIVE WINDOWS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10: Strip Resist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Clean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PG Remover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Remove: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NMP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mins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Ultra-Sonication: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Dry Method: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N2 blow dry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[C] n+ EMITTER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11: Dilute HF dip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Etch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BOE/DHF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SiO₂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Two-Sided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DHF 50:1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Depth: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2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Mode: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Isotropic Etch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Etch Selectivity: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Out-of-plane Etch Buried Layers: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Removes native oxide from active silicon windows prior to dopant application.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10 s dilute HF (DHF 50:1) dip.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12: Spin P spin-on dopant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Spin-Coat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 Coater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 Type: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Dopant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Dopant Species: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Phosphorus Spin-On Dopant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200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Speed: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3000 rpm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45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Fill Gaps: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Applies phosphorus spin-on dopant to form shallow n+ emitter 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Spun per dopant recipe parameters.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13: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165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Soft-bakes and dries spin-on dopant 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Hotplate bake at 150-175 °C (~165 °C).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14: Predeposition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Dopant Diffusion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Tube Furnace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Diffusion Target Layer(s):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Silicon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Gas-Source Diffusion: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Diffusion Distance: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Diffusion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1100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Diffusion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8 mins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Grow Thermal Surface Layer: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Drives phosphorus dopant into exposed silicon active areas to form n+ emitter junction.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Tube furnace predeposition at 1100 °C for 5-10 min (~8 min).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15: Strip dopant glass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Etch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BOE/DHF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Phosphorus Spin-On Dopant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Two-Sided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BOE 6:1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Depth: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Mode: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Isotropic Etch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Etch Selectivity: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Out-of-plane Etch Buried Layers: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Strips residual phosphosilicate dopant glass down to bare Si.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Brief BOE etch (60 s) to hydrophobic bare silicon surface. Note: This blanket dip also thins the field oxide from ~300 nm to ~200 nm, which remains sufficiently thick for subsequent Mask 2 and Mask 3 patterning.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[C] n+ EMITTER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1: Measure R_sheet &lt;GATE G1&gt;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Probe Station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Measures sheet resistance (R_sheet) on van der Pauw cross structures as quality gate G1.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Confirms dopant drive-in and active layer sheet resistance before oxidation split.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[D] AR-OXIDE SPLIT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[D] AR-OXIDE SPLIT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16: Dry O2 oxidation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Thermal Oxidation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Tube Furnace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Consume: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Silicon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Two-Sided Growth: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Process Gases: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O₂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Thermally Grown 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SiO₂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70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Growth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20 mins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Growth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1100 °C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Consumption Ratio: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46 %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Thermally grows passivating anti-reflection (AR) oxide 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Dry O2 oxidation in furnace at 1100 °C; dies pulled at ~7 min (~40 nm), ~20 min (~70 nm), ~38 min (~100 nm), plus one bare-Si witness.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[D] AR-OXIDE SPLIT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2: Measure oxide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Ellipsometer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Ellipsometer metrology of AR oxide thickness across split dies.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Confirms targets of ~40 nm / ~70 nm / ~100 nm AR oxide.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[E] MASK 2: CONTACT STRIPES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17: Dehydration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120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Dehydration bake before resist application.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120 °C for 5 min.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18: Spin S1813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Spin-Coat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 Coater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 Type: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Positive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1.35 µm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Speed: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4000 rpm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Fill Gaps: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Coats S1813 positive resist for contact stripe mask.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4000 rpm for 50 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19: Pre-exposure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115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Soft-bakes S1813 resist.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115 °C for 60 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20: Expose Mask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Direct-Write Lithography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litho-v1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Laser Wavelength: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405 nm (h-line)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Expose: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Pattern source: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Manual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Pattern: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2,1,2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Toggle start exposure region: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Exposure Sidewall Angle: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°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Exposes Mask 2 defining 10 µm contact opening stripes inside 30 µm fingers.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Patterned on litho-v1 DLP projector (405 nm LED), aligned to Mask 1 marks using XY + theta stage.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21: Develop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Develop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MF-319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Develop: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Developer: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MF-319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Custom Undercut: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Develops exposed contact opening stripes in S1813 resist.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MF-319 developer for 15-40 s (~30 s), DI rinse, and N2 dry.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22: Hard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120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Hardens resist mask prior to wet etching of contact stripes.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120 °C for 10 min.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23: Etch AR oxide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Etch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BOE/DHF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SiO₂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Two-Sided Etch: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BOE 6:1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Depth: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45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Etch Mode: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Isotropic Etch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Etch Selectivity: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Out-of-plane Etch Buried Layers: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Etches opened contact stripes through AR oxide down to n+ emitter.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BOE etch time scaled by AR oxide thickness: ~25 s for 40 nm die, ~45 s for 70 nm die, and ~70 s for 100 nm die. Visual endpoint indicated when bare silicon contact stripes dewet.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[E] MASK 2: CONTACT STRIPES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24: Strip Resist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Chemical Clean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PG Remover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Remove: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NMP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mins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Cleaning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Ultra-Sonication: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Dry Method: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N2 blow dry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Keep Floating Structures: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[F] MASK 3: METAL BY LIFT-OFF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25: Dehydration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120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Dehydration bake before bi-layer resist coating.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~120 °C for 5 min, then cool.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26: Spin LOR 3b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Spin-Coat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 Coater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 Type: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Lift-Off Resist (LOR)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LOR 3A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nm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Speed: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3000 rpm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Fill Gaps: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Coats LOR 3b lift-off resist underlayer to create re-entrant undercut profile.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70 µL dispense, 3000 rpm for 50 s yields ~300 nm film.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27: Bake LOR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190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300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Bakes LOR 3b underlayer.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190 °C for 5 min, then cool.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28: Spin S1813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Spin-Coat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Spin Coater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 Type: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Positive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1.35 µm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Speed: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4000 rpm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Spin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Fill Gaps: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Coats top photoresist layer S1813 over LOR underlayer.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70 µL dispense, 4000 rpm for 50 s (~1.35 µm).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29: Pre-exposure bake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115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Soft-bakes top resist layer.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~115 °C for 60 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30: Expose Mask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Direct-Write Lithography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litho-v1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Laser Wavelength: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405 nm (h-line)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Expose: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Pattern source: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Manual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Define Pattern: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3,4,3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Toggle start exposure region: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Yes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Exposure Sidewall Angle: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°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Exposes Mask 3 defining contact fingers, bus bar, and bond pad over the n+ window aligned to Mask 2.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Patterned on litho-v1 DLP projector (405 nm LED), aligned to Mask 2 contact openings.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31: Develop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Develop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MF-319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Layer(s) to Develop: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S1813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Developer: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MF-319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Develop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secs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Custom Undercut: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Develops S1813 and isotropically dissolves LOR 3b to create clean lift-off undercut.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MF-319 for ~60 s; inspect undercut profile under litho camera.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32: Evaporate 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Thermal Evaporation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thermal-evaporator-v1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27203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0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Material: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Aluminum</a:t>
            </a:r>
            <a:endParaRPr lang="en-US" sz="10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Film Thickness: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1500 Å</a:t>
            </a:r>
            <a:endParaRPr lang="en-US" sz="10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Deposition Time: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660 secs</a:t>
            </a:r>
            <a:endParaRPr lang="en-US" sz="10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TOOL PARAMETERS</a:t>
            </a:r>
            <a:endParaRPr lang="en-US" sz="1000" dirty="0"/>
          </a:p>
          <a:p>
            <a:pPr marL="139700" indent="-139700">
              <a:spcBef>
                <a:spcPts val="200"/>
              </a:spcBef>
              <a:spcAft>
                <a:spcPts val="200"/>
              </a:spcAft>
              <a:buSzPct val="100000"/>
              <a:buChar char=" "/>
            </a:pPr>
            <a:r>
              <a:rPr lang="en-US" sz="1000" dirty="0">
                <a:solidFill>
                  <a:srgbClr val="6B2F87"/>
                </a:solidFill>
              </a:rPr>
              <a:t>Pumpdown</a:t>
            </a:r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Shutter Open: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No</a:t>
            </a:r>
            <a:endParaRPr lang="en-US" sz="1000" dirty="0"/>
          </a:p>
          <a:p>
            <a:pPr marL="139700" indent="-139700">
              <a:spcBef>
                <a:spcPts val="600"/>
              </a:spcBef>
              <a:spcAft>
                <a:spcPts val="200"/>
              </a:spcAft>
              <a:buSzPct val="100000"/>
              <a:buChar char=" "/>
            </a:pPr>
            <a:r>
              <a:rPr lang="en-US" sz="1000" dirty="0">
                <a:solidFill>
                  <a:srgbClr val="6B2F87"/>
                </a:solidFill>
              </a:rPr>
              <a:t>Source Ramp-Up</a:t>
            </a:r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Shutter Open: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No</a:t>
            </a:r>
            <a:endParaRPr lang="en-US" sz="1000" dirty="0"/>
          </a:p>
          <a:p>
            <a:pPr marL="139700" indent="-139700">
              <a:spcBef>
                <a:spcPts val="600"/>
              </a:spcBef>
              <a:spcAft>
                <a:spcPts val="200"/>
              </a:spcAft>
              <a:buSzPct val="100000"/>
              <a:buChar char=" "/>
            </a:pPr>
            <a:r>
              <a:rPr lang="en-US" sz="1000" dirty="0">
                <a:solidFill>
                  <a:srgbClr val="6B2F87"/>
                </a:solidFill>
              </a:rPr>
              <a:t>Deposition</a:t>
            </a:r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Shutter Open: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No</a:t>
            </a:r>
            <a:endParaRPr lang="en-US" sz="1000" dirty="0"/>
          </a:p>
          <a:p>
            <a:pPr marL="139700" indent="-139700">
              <a:spcBef>
                <a:spcPts val="600"/>
              </a:spcBef>
              <a:spcAft>
                <a:spcPts val="200"/>
              </a:spcAft>
              <a:buSzPct val="100000"/>
              <a:buChar char=" "/>
            </a:pPr>
            <a:r>
              <a:rPr lang="en-US" sz="1000" dirty="0">
                <a:solidFill>
                  <a:srgbClr val="6B2F87"/>
                </a:solidFill>
              </a:rPr>
              <a:t>Source Ramp-Down</a:t>
            </a:r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Shutter Open: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No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97580" y="1572768"/>
            <a:ext cx="272034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0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Deposition Angle: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0 °</a:t>
            </a:r>
            <a:endParaRPr lang="en-US" sz="1000" dirty="0"/>
          </a:p>
          <a:p>
            <a:pPr marL="139700" indent="-139700">
              <a:spcBef>
                <a:spcPts val="300"/>
              </a:spcBef>
              <a:spcAft>
                <a:spcPts val="200"/>
              </a:spcAft>
              <a:buSzPct val="100000"/>
              <a:buChar char=" "/>
            </a:pPr>
            <a:r>
              <a:rPr lang="en-US" sz="1000" i="1" dirty="0">
                <a:solidFill>
                  <a:srgbClr val="5A6B7B"/>
                </a:solidFill>
              </a:rPr>
              <a:t>Shadow Mask</a:t>
            </a:r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lvl="1" marL="279400" indent="-139700">
              <a:spcAft>
                <a:spcPts val="200"/>
              </a:spcAft>
              <a:buSzPct val="100000"/>
              <a:buChar char="•"/>
            </a:pPr>
            <a:r>
              <a:rPr lang="en-US" sz="1000" b="1" dirty="0">
                <a:solidFill>
                  <a:srgbClr val="1F2933"/>
                </a:solidFill>
              </a:rPr>
              <a:t>Shadow Mask: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3E4C59"/>
                </a:solidFill>
              </a:rPr>
              <a:t>No</a:t>
            </a:r>
            <a:endParaRPr lang="en-US" sz="10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</a:rPr>
              <a:t> Deposits aluminum contact metallization for fingers, bus bar, and pad.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F2933"/>
                </a:solidFill>
              </a:rPr>
              <a:t> Thermal evaporation of ~150 nm (1500 Å) Al to ensure a robust &gt;1.5× thickness ratio under the ~300 nm LOR 3b layer for clean lift-off.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3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8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1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2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6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9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4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7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[F] MASK 3: METAL BY LIFT-OFF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33: Lift-off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Lift-Off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Wet Bench: PG Remover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Chemical Bath Composition: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NMP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5 mins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60 °C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Dissolves LOR 3b underlayer and lifts off excess aluminum film.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Warm PG Remover bath (~60 °C) for ~5 min with gentle agitation.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[G] BACKSIDE + SINTER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[G] BACKSIDE + SINTER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34: Backside contact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Custom Step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Comment: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Apply ~200 nm evaporated Al, silver epoxy, or indium paste (backside oxide stripped earlier during Steps 9 and 23 BOE etches).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Scratch the backside lightly with a diamond scribe before applying silver epoxy or indium, because phosphorus vapour during predeposition (step 14) can form a thin n-type skin there.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Applies ohmic backside contact metallization.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Backside oxide was stripped earlier during Steps 9 and 23 BOE etches. Apply ~200 nm evaporated Al, silver epoxy, or indium paste to form backside substrate contact without exposing front-side Al to BOE.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[G] BACKSIDE + SINTER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Step 35: Sinter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Bake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Hot Plate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PROCESS PARAMETERS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Temperature: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380 °C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Bake Time: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10 mins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ADVANCED SETTINGS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Hard-Bake All Resists: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F2933"/>
                </a:solidFill>
              </a:rPr>
              <a:t>Resist Image Reversal: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E4C59"/>
                </a:solidFill>
              </a:rPr>
              <a:t>No</a:t>
            </a:r>
            <a:endParaRPr lang="en-US" sz="1100" dirty="0"/>
          </a:p>
          <a:p>
            <a:pPr indent="0" marL="0">
              <a:spcBef>
                <a:spcPts val="1000"/>
              </a:spcBef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Sinters the Al contacts to form low-resistance ohmic contacts.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380 °C, 10 min on a hotplate in air. Kept at or below 400 °C to avoid Al spiking through the shallow junction.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307592"/>
            <a:ext cx="370332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9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7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8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5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33172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2933"/>
                </a:solidFill>
              </a:rPr>
              <a:t>[H] TEST</a:t>
            </a:r>
            <a:endParaRPr lang="en-US" sz="3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[H]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3: Dark I-V &lt;GATE G2&gt;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Probe Station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Measures dark I-V characteristics as quality gate G2.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Confirms diode rectification &gt;= 10^3 between +/-1 V.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[H]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4: Photocurrent &lt;GATE G3/G4&gt;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Probe Station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Measures photocurrent response on litho-v1 stage under 405 nm LED illumination as quality gate G3/G4.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Quantifies on/off response difference vs AR oxide thickness split (40/70/100 nm) and vs finger pitch.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[H]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5: Linearity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Probe Station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Evaluates photocurrent linearity over optical power.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Measures photocurrent (I_ph) versus LED driving current.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8E4CA8"/>
                </a:solidFill>
              </a:rPr>
              <a:t>[H] TEST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</a:rPr>
              <a:t>Metrology Step 6: Calibration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11556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Capability Type: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Metrology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Tool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Probe Station</a:t>
            </a:r>
            <a:pPr indent="0" marL="0">
              <a:buNone/>
            </a:pPr>
            <a:r>
              <a:rPr lang="en-US" sz="950" dirty="0">
                <a:solidFill>
                  <a:srgbClr val="7B8794"/>
                </a:solidFill>
              </a:rPr>
              <a:t>   |   </a:t>
            </a:r>
            <a:pPr indent="0" marL="0">
              <a:buNone/>
            </a:pPr>
            <a:r>
              <a:rPr lang="en-US" sz="950" b="1" dirty="0">
                <a:solidFill>
                  <a:srgbClr val="1F2933"/>
                </a:solidFill>
              </a:rPr>
              <a:t>Recipe Name: </a:t>
            </a:r>
            <a:pPr indent="0" marL="0">
              <a:buNone/>
            </a:pPr>
            <a:r>
              <a:rPr lang="en-US" sz="950" dirty="0">
                <a:solidFill>
                  <a:srgbClr val="5A6B7B"/>
                </a:solidFill>
              </a:rPr>
              <a:t>-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" y="1572768"/>
            <a:ext cx="5715000" cy="4526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b="1" spc="100" kern="0" dirty="0">
                <a:solidFill>
                  <a:srgbClr val="8E4CA8"/>
                </a:solidFill>
              </a:rPr>
              <a:t>NOTES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Process Intent: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Calibrates photodiode responsivity and external quantum efficiency (EQE).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3"/>
                </a:solidFill>
              </a:rPr>
              <a:t>Rationale: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3"/>
                </a:solidFill>
              </a:rPr>
              <a:t> Benchmarks against a calibrated commercial silicon photodiode standard.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37960" y="29763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B"/>
                </a:solidFill>
              </a:rPr>
              <a:t>Preview unavailable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37960" y="5184648"/>
            <a:ext cx="4983480" cy="0"/>
          </a:xfrm>
          <a:prstGeom prst="line">
            <a:avLst/>
          </a:prstGeom>
          <a:noFill/>
          <a:ln w="10160">
            <a:solidFill>
              <a:srgbClr val="E1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9" name="Shape 7"/>
          <p:cNvSpPr/>
          <p:nvPr/>
        </p:nvSpPr>
        <p:spPr>
          <a:xfrm>
            <a:off x="653796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Silicon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B4BEC8"/>
          </a:solidFill>
          <a:ln/>
        </p:spPr>
      </p:sp>
      <p:sp>
        <p:nvSpPr>
          <p:cNvPr id="12" name="Shape 10"/>
          <p:cNvSpPr/>
          <p:nvPr/>
        </p:nvSpPr>
        <p:spPr>
          <a:xfrm flipV="1">
            <a:off x="653796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flipH="1">
            <a:off x="653796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64B4F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SiO₂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D76969"/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6537960" y="5916168"/>
            <a:ext cx="164592" cy="164592"/>
          </a:xfrm>
          <a:prstGeom prst="rtTriangle">
            <a:avLst/>
          </a:prstGeom>
          <a:solidFill>
            <a:srgbClr val="D04F4F"/>
          </a:solidFill>
          <a:ln/>
        </p:spPr>
      </p:sp>
      <p:sp>
        <p:nvSpPr>
          <p:cNvPr id="21" name="Shape 19"/>
          <p:cNvSpPr/>
          <p:nvPr/>
        </p:nvSpPr>
        <p:spPr>
          <a:xfrm flipH="1">
            <a:off x="6537960" y="5916168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S1813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9700" y="5257800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5230368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Phosphorus Spin-On Dopant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A66CC5"/>
          </a:solidFill>
          <a:ln/>
        </p:spPr>
      </p:sp>
      <p:sp>
        <p:nvSpPr>
          <p:cNvPr id="28" name="Shape 26"/>
          <p:cNvSpPr/>
          <p:nvPr/>
        </p:nvSpPr>
        <p:spPr>
          <a:xfrm flipV="1">
            <a:off x="9029700" y="5477256"/>
            <a:ext cx="164592" cy="164592"/>
          </a:xfrm>
          <a:prstGeom prst="rtTriangle">
            <a:avLst/>
          </a:prstGeom>
          <a:solidFill>
            <a:srgbClr val="A66CC5">
              <a:alpha val="2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flipH="1">
            <a:off x="9029700" y="5477256"/>
            <a:ext cx="164592" cy="164592"/>
          </a:xfrm>
          <a:prstGeom prst="line">
            <a:avLst/>
          </a:prstGeom>
          <a:noFill/>
          <a:ln w="5080">
            <a:solidFill>
              <a:srgbClr val="1F29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9700" y="5477256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58300" y="5449824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P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4A3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029700" y="5696712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300" y="5669280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LOR 3A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50E3C2"/>
          </a:solidFill>
          <a:ln/>
        </p:spPr>
      </p:sp>
      <p:sp>
        <p:nvSpPr>
          <p:cNvPr id="36" name="Shape 34"/>
          <p:cNvSpPr/>
          <p:nvPr/>
        </p:nvSpPr>
        <p:spPr>
          <a:xfrm>
            <a:off x="9029700" y="5916168"/>
            <a:ext cx="164592" cy="164592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1F29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58300" y="5888736"/>
            <a:ext cx="2217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1F2933"/>
                </a:solidFill>
              </a:rPr>
              <a:t>Aluminum</a:t>
            </a:r>
            <a:endParaRPr lang="en-US" sz="75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501384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FabuBlox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Photodiode</dc:title>
  <dc:subject/>
  <dc:creator>Adish Gupta</dc:creator>
  <cp:lastModifiedBy>Adish Gupta</cp:lastModifiedBy>
  <cp:revision>1</cp:revision>
  <dcterms:created xsi:type="dcterms:W3CDTF">2026-10-30T03:14:37Z</dcterms:created>
  <dcterms:modified xsi:type="dcterms:W3CDTF">2026-10-30T03:14:37Z</dcterms:modified>
</cp:coreProperties>
</file>